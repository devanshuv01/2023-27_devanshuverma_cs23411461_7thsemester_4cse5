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clean_presentation_title_slide_white_light_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Why Food Genie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94960" cy="411480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0292" cy="411480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64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67128"/>
            <a:ext cx="502920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Traditional food-ordering project implementations often separate browsing, cart, authentication and payment into disconnected modules. A complete application needs a consistent data flow, secure APIs and reliable third-party integrations.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394960" cy="411480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600200"/>
            <a:ext cx="50292" cy="411480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764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167128"/>
            <a:ext cx="502920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• Build a complete MERN-based ordering workflow</a:t>
            </a:r>
            <a:br/>
            <a:r>
              <a:rPr>
                <a:solidFill>
                  <a:srgbClr val="232A34"/>
                </a:solidFill>
              </a:rPr>
              <a:t>• Provide secure user authentication and protected APIs</a:t>
            </a:r>
            <a:br/>
            <a:r>
              <a:rPr>
                <a:solidFill>
                  <a:srgbClr val="232A34"/>
                </a:solidFill>
              </a:rPr>
              <a:t>• Manage restaurants, menus, food items, carts and orders</a:t>
            </a:r>
            <a:br/>
            <a:r>
              <a:rPr>
                <a:solidFill>
                  <a:srgbClr val="232A34"/>
                </a:solidFill>
              </a:rPr>
              <a:t>• Integrate online payment through Stripe</a:t>
            </a:r>
            <a:br/>
            <a:r>
              <a:rPr>
                <a:solidFill>
                  <a:srgbClr val="232A34"/>
                </a:solidFill>
              </a:rPr>
              <a:t>• Support cloud image storage and transactional email</a:t>
            </a:r>
            <a:br/>
            <a:r>
              <a:rPr>
                <a:solidFill>
                  <a:srgbClr val="232A34"/>
                </a:solidFill>
              </a:rPr>
              <a:t>• Keep the backend modular for future recommendation/AI extensions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Client → API → business logic → database, with external service integrations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10312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066544"/>
            <a:ext cx="18836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React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18836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Components + React 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210312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849624"/>
            <a:ext cx="18836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Redux Toolkit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206240"/>
            <a:ext cx="18836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Application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743200"/>
            <a:ext cx="2286000" cy="123444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889504"/>
            <a:ext cx="20665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Axios /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246120"/>
            <a:ext cx="206654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HTTP + credentials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377440" cy="123444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9751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Express.js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331720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Routes + middleware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94760"/>
            <a:ext cx="2377440" cy="123444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94106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Controllers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297680"/>
            <a:ext cx="21579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Business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2788920"/>
            <a:ext cx="1920240" cy="123444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7" y="2935224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7" y="3291839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Mongoose models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43200" y="2487168"/>
            <a:ext cx="685800" cy="758952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743200" y="3474720"/>
            <a:ext cx="685800" cy="804672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715000" y="2514600"/>
            <a:ext cx="685800" cy="82296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89520" y="3090672"/>
            <a:ext cx="0" cy="704088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778240" y="3794760"/>
            <a:ext cx="777240" cy="612648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81160" y="4892040"/>
            <a:ext cx="2423160" cy="91440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4892040"/>
            <a:ext cx="50292" cy="91440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82328" y="5056631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External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2328" y="545896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Stripe • Cloudinary • Nodemailer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Technologies visible in the project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29000" cy="173736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0292" cy="173736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190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21408"/>
            <a:ext cx="3063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React 18 • Vite</a:t>
            </a:r>
            <a:br/>
            <a:r>
              <a:rPr>
                <a:solidFill>
                  <a:srgbClr val="232A34"/>
                </a:solidFill>
              </a:rPr>
              <a:t>React Router • Redux Toolkit</a:t>
            </a:r>
            <a:br/>
            <a:r>
              <a:rPr>
                <a:solidFill>
                  <a:srgbClr val="232A34"/>
                </a:solidFill>
              </a:rPr>
              <a:t>Axios • Bootstrap / styled-components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429000" cy="173736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50292" cy="173736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7190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121408"/>
            <a:ext cx="3063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Node.js • Express</a:t>
            </a:r>
            <a:br/>
            <a:r>
              <a:rPr>
                <a:solidFill>
                  <a:srgbClr val="232A34"/>
                </a:solidFill>
              </a:rPr>
              <a:t>REST APIs • Middleware</a:t>
            </a:r>
            <a:br/>
            <a:r>
              <a:rPr>
                <a:solidFill>
                  <a:srgbClr val="232A34"/>
                </a:solidFill>
              </a:rPr>
              <a:t>Mongoose • Error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429000" cy="173736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50292" cy="173736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7190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121408"/>
            <a:ext cx="3063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MongoDB</a:t>
            </a:r>
            <a:br/>
            <a:r>
              <a:rPr>
                <a:solidFill>
                  <a:srgbClr val="232A34"/>
                </a:solidFill>
              </a:rPr>
              <a:t>Mongoose schemas/models</a:t>
            </a:r>
            <a:br/>
            <a:r>
              <a:rPr>
                <a:solidFill>
                  <a:srgbClr val="232A34"/>
                </a:solidFill>
              </a:rPr>
              <a:t>Users • Restaurants • Menus • Carts •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03320"/>
            <a:ext cx="5394960" cy="173736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50292" cy="173736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270248"/>
            <a:ext cx="5029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Stripe payments</a:t>
            </a:r>
            <a:br/>
            <a:r>
              <a:rPr>
                <a:solidFill>
                  <a:srgbClr val="232A34"/>
                </a:solidFill>
              </a:rPr>
              <a:t>Cloudinary media storage</a:t>
            </a:r>
            <a:br/>
            <a:r>
              <a:rPr>
                <a:solidFill>
                  <a:srgbClr val="232A34"/>
                </a:solidFill>
              </a:rPr>
              <a:t>Nodemailer email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703320"/>
            <a:ext cx="5394960" cy="173736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703320"/>
            <a:ext cx="50292" cy="173736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386791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270248"/>
            <a:ext cx="5029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JWT authentication</a:t>
            </a:r>
            <a:br/>
            <a:r>
              <a:rPr>
                <a:solidFill>
                  <a:srgbClr val="232A34"/>
                </a:solidFill>
              </a:rPr>
              <a:t>bcrypt password hashing</a:t>
            </a:r>
            <a:br/>
            <a:r>
              <a:rPr>
                <a:solidFill>
                  <a:srgbClr val="232A34"/>
                </a:solidFill>
              </a:rPr>
              <a:t>Protected routes</a:t>
            </a:r>
            <a:br/>
            <a:r>
              <a:rPr>
                <a:solidFill>
                  <a:srgbClr val="232A34"/>
                </a:solidFill>
              </a:rPr>
              <a:t>Environment-based 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Frontend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Component-driven UI with centralized application 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2011680" cy="105156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157984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Pages /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514600"/>
            <a:ext cx="179222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Home • Restaurant • Menu</a:t>
            </a:r>
            <a:br/>
            <a:r>
              <a:rPr>
                <a:solidFill>
                  <a:srgbClr val="232A34"/>
                </a:solidFill>
              </a:rPr>
              <a:t>Food Item • Cart • 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2011680"/>
            <a:ext cx="2011680" cy="105156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8" y="2157984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React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2514600"/>
            <a:ext cx="179222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Client-side navigation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011680"/>
            <a:ext cx="2011680" cy="105156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3288" y="2157984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Redux Toolkit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3288" y="2514600"/>
            <a:ext cx="179222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State + async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11680"/>
            <a:ext cx="2011680" cy="105156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7" y="2157984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Axios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7" y="2514600"/>
            <a:ext cx="179222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API communication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3977639"/>
            <a:ext cx="1417320" cy="105156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8128" y="4123944"/>
            <a:ext cx="1197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8128" y="4480559"/>
            <a:ext cx="1197864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Backend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2542032"/>
            <a:ext cx="45720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66360" y="2542032"/>
            <a:ext cx="45720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35240" y="2542032"/>
            <a:ext cx="45720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0" y="3063240"/>
            <a:ext cx="914400" cy="914399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3886200"/>
            <a:ext cx="8915400" cy="146304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886200"/>
            <a:ext cx="50292" cy="146304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050791"/>
            <a:ext cx="8549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User-facing 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453128"/>
            <a:ext cx="8549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Restaurant discovery • Menu browsing • Cart management • Authentication • Order placement • Order history • Checkout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Modular Express backend organized around routes, controllers, models and middleware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29000" cy="160020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0292" cy="160020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647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Routes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67128"/>
            <a:ext cx="30632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Map HTTP endpoints to controllers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429000" cy="160020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600200"/>
            <a:ext cx="50292" cy="160020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7647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167128"/>
            <a:ext cx="30632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Authentication, restaurants, menus, food items, cart, orders and payments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00200"/>
            <a:ext cx="3429000" cy="160020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600200"/>
            <a:ext cx="50292" cy="160020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76479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Middleware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167128"/>
            <a:ext cx="30632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Authentication, authorization and centralized error handling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429000" cy="160020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50292" cy="160020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7307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133087"/>
            <a:ext cx="30632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Mongoose schemas for core application entities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566160"/>
            <a:ext cx="3429000" cy="160020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3566160"/>
            <a:ext cx="50292" cy="160020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37307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Utils / Config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133087"/>
            <a:ext cx="306324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Database connection, email and cloud-service helpers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Design pattern: HTTP request → route → middleware → controller → model/service →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MongoDB collections modeled with Mongoose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828800" cy="9144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066544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Profile + credentials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920240"/>
            <a:ext cx="1828800" cy="9144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368" y="2066544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Restaurant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2423160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Restaurant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920240"/>
            <a:ext cx="1828800" cy="9144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2066544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423160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Restaurant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920240"/>
            <a:ext cx="1828800" cy="9144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3488" y="2066544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FoodItem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2423160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Item details + price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886200"/>
            <a:ext cx="1828800" cy="9144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4368" y="4032504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4389120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User's selected items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886200"/>
            <a:ext cx="1828800" cy="9144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8" y="4032504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4389120"/>
            <a:ext cx="1609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Checkout + order data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68880" y="2377440"/>
            <a:ext cx="36576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2377440"/>
            <a:ext cx="36576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2377440"/>
            <a:ext cx="36576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49039" y="2834640"/>
            <a:ext cx="0" cy="105156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43600" y="2834640"/>
            <a:ext cx="0" cy="105156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38160" y="3840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Key benefit</a:t>
            </a:r>
            <a:br/>
            <a:r>
              <a:rPr>
                <a:solidFill>
                  <a:srgbClr val="232A34"/>
                </a:solidFill>
              </a:rPr>
              <a:t>Flexible document model with Mongoose validation and population for related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Authentication &amp; Application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Implemented security mechanisms — without overstating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057400" cy="109728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97510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Register /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31720"/>
            <a:ext cx="1837943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User credentials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2057400" cy="109728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0128" y="197510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bcrypt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0128" y="2331720"/>
            <a:ext cx="1837943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Password hashing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828800"/>
            <a:ext cx="2057400" cy="109728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0448" y="197510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331720"/>
            <a:ext cx="1837943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Token generation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2057400" cy="109728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7" y="197510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Protected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7" y="2331720"/>
            <a:ext cx="1837943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Middleware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931920"/>
            <a:ext cx="2057400" cy="109728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407822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User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4434840"/>
            <a:ext cx="1837943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req.user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2377440"/>
            <a:ext cx="50292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57800" y="2377440"/>
            <a:ext cx="50292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8120" y="2377440"/>
            <a:ext cx="50292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812280" y="2926080"/>
            <a:ext cx="2514600" cy="100584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3840480"/>
            <a:ext cx="4480560" cy="141732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840480"/>
            <a:ext cx="50292" cy="141732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005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Additional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407408"/>
            <a:ext cx="41148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Environment variables for secrets • CORS configuration • Centralized error handling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840480"/>
            <a:ext cx="3246120" cy="141732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3840480"/>
            <a:ext cx="50292" cy="141732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4005072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Payment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4407408"/>
            <a:ext cx="2880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Stripe handles payment collection; the application receives the resulting payment/session information.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Core Ordering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End-to-end user journey implemented by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03120"/>
            <a:ext cx="1691640" cy="123444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224942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1. Browse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2606039"/>
            <a:ext cx="1472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Restaurants &amp; menus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724912"/>
            <a:ext cx="27432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103120"/>
            <a:ext cx="1691640" cy="123444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4942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2. 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606039"/>
            <a:ext cx="1472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Food items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2724912"/>
            <a:ext cx="27432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2103120"/>
            <a:ext cx="1691640" cy="123444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24942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3. Cart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606039"/>
            <a:ext cx="1472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Review quantity &amp; total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5040" y="2724912"/>
            <a:ext cx="27432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59" y="2103120"/>
            <a:ext cx="1691640" cy="123444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24942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4. Checkout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606039"/>
            <a:ext cx="1472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Create Stripe session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1000" y="2724912"/>
            <a:ext cx="274319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75319" y="2103120"/>
            <a:ext cx="1691640" cy="123444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7" y="224942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5. 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7" y="2606039"/>
            <a:ext cx="1472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Stripe-hosted payment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66959" y="2724912"/>
            <a:ext cx="274321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241280" y="2103120"/>
            <a:ext cx="1691640" cy="123444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1007" y="2249424"/>
            <a:ext cx="1472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6.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7" y="2606039"/>
            <a:ext cx="1472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Persist order + clear cart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60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This flow connects React state, REST APIs, MongoDB persistence and Stripe checkout into one transaction-oriented user experience.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Stripe Payment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Real payment workflow rather than a simulated checkout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205740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20370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60320"/>
            <a:ext cx="18379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Items + totals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2057400"/>
            <a:ext cx="205740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8" y="220370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2560320"/>
            <a:ext cx="18379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Create checkout 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057400"/>
            <a:ext cx="205740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9008" y="220370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Stripe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2560320"/>
            <a:ext cx="18379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Hosted payment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057400"/>
            <a:ext cx="205740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7" y="220370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Success / Cancel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7" y="2560320"/>
            <a:ext cx="18379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Redirect 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160520"/>
            <a:ext cx="205740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8" y="430682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Order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4663440"/>
            <a:ext cx="18379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Validate session + create order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4160520"/>
            <a:ext cx="205740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7" y="4306824"/>
            <a:ext cx="183794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7" y="4663440"/>
            <a:ext cx="18379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Persist order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97480" y="2633472"/>
            <a:ext cx="45720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12080" y="2633472"/>
            <a:ext cx="45720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26679" y="2633472"/>
            <a:ext cx="45720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720840" y="3200400"/>
            <a:ext cx="2468880" cy="96012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26679" y="4736592"/>
            <a:ext cx="45720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Implementation focus: server-side payment session creation and order persistence after successful checkout.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External Service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Third-party services used to extend the MERN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347472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0292" cy="347472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Stripe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12848"/>
            <a:ext cx="310896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• Checkout session creation</a:t>
            </a:r>
            <a:br/>
            <a:r>
              <a:rPr>
                <a:solidFill>
                  <a:srgbClr val="232A34"/>
                </a:solidFill>
              </a:rPr>
              <a:t>• Payment flow</a:t>
            </a:r>
            <a:br/>
            <a:r>
              <a:rPr>
                <a:solidFill>
                  <a:srgbClr val="232A34"/>
                </a:solidFill>
              </a:rPr>
              <a:t>• Payment/session information used by order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347472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0292" cy="347472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Cloudinary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12848"/>
            <a:ext cx="310896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• User/avatar image uploads</a:t>
            </a:r>
            <a:br/>
            <a:r>
              <a:rPr>
                <a:solidFill>
                  <a:srgbClr val="232A34"/>
                </a:solidFill>
              </a:rPr>
              <a:t>• Stores media outside the application server</a:t>
            </a:r>
            <a:br/>
            <a:r>
              <a:rPr>
                <a:solidFill>
                  <a:srgbClr val="232A34"/>
                </a:solidFill>
              </a:rPr>
              <a:t>• Returns hosted image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74720" cy="347472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50292" cy="347472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Nodemailer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212848"/>
            <a:ext cx="310896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• Email utility</a:t>
            </a:r>
            <a:br/>
            <a:r>
              <a:rPr>
                <a:solidFill>
                  <a:srgbClr val="232A34"/>
                </a:solidFill>
              </a:rPr>
              <a:t>• Password-reset communication</a:t>
            </a:r>
            <a:br/>
            <a:r>
              <a:rPr>
                <a:solidFill>
                  <a:srgbClr val="232A34"/>
                </a:solidFill>
              </a:rPr>
              <a:t>• Transactional messaging 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Integration pattern: application backend acts as the controlled boundary between the frontend and external 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Engineering Quality &amp; 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 realistic 4th-year project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303520" cy="416052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0292" cy="416052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6479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Implemented engineering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167128"/>
            <a:ext cx="4937759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✓ Modular backend structure</a:t>
            </a:r>
            <a:br/>
            <a:r>
              <a:rPr>
                <a:solidFill>
                  <a:srgbClr val="232A34"/>
                </a:solidFill>
              </a:rPr>
              <a:t>✓ Protected API routes</a:t>
            </a:r>
            <a:br/>
            <a:r>
              <a:rPr>
                <a:solidFill>
                  <a:srgbClr val="232A34"/>
                </a:solidFill>
              </a:rPr>
              <a:t>✓ JWT authentication</a:t>
            </a:r>
            <a:br/>
            <a:r>
              <a:rPr>
                <a:solidFill>
                  <a:srgbClr val="232A34"/>
                </a:solidFill>
              </a:rPr>
              <a:t>✓ Password hashing</a:t>
            </a:r>
            <a:br/>
            <a:r>
              <a:rPr>
                <a:solidFill>
                  <a:srgbClr val="232A34"/>
                </a:solidFill>
              </a:rPr>
              <a:t>✓ Centralized error handling</a:t>
            </a:r>
            <a:br/>
            <a:r>
              <a:rPr>
                <a:solidFill>
                  <a:srgbClr val="232A34"/>
                </a:solidFill>
              </a:rPr>
              <a:t>✓ Environment-based configuration</a:t>
            </a:r>
            <a:br/>
            <a:r>
              <a:rPr>
                <a:solidFill>
                  <a:srgbClr val="232A34"/>
                </a:solidFill>
              </a:rPr>
              <a:t>✓ External payment/cloud integrations</a:t>
            </a:r>
            <a:br/>
            <a:r>
              <a:rPr>
                <a:solidFill>
                  <a:srgbClr val="232A34"/>
                </a:solidFill>
              </a:rPr>
              <a:t>✓ Separate frontend and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303520" cy="416052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50292" cy="416052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Before production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167128"/>
            <a:ext cx="4937759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• Add automated unit/integration tests</a:t>
            </a:r>
            <a:br/>
            <a:r>
              <a:rPr>
                <a:solidFill>
                  <a:srgbClr val="232A34"/>
                </a:solidFill>
              </a:rPr>
              <a:t>• Add API monitoring and structured logging</a:t>
            </a:r>
            <a:br/>
            <a:r>
              <a:rPr>
                <a:solidFill>
                  <a:srgbClr val="232A34"/>
                </a:solidFill>
              </a:rPr>
              <a:t>• Add rate limiting and stronger validation</a:t>
            </a:r>
            <a:br/>
            <a:r>
              <a:rPr>
                <a:solidFill>
                  <a:srgbClr val="232A34"/>
                </a:solidFill>
              </a:rPr>
              <a:t>• Configure production CORS and deployment secrets</a:t>
            </a:r>
            <a:br/>
            <a:r>
              <a:rPr>
                <a:solidFill>
                  <a:srgbClr val="232A34"/>
                </a:solidFill>
              </a:rPr>
              <a:t>• Benchmark API response times before publishing metrics</a:t>
            </a:r>
            <a:br/>
            <a:r>
              <a:rPr>
                <a:solidFill>
                  <a:srgbClr val="232A34"/>
                </a:solidFill>
              </a:rPr>
              <a:t>• Add CI/CD and deployment health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AI / ML Extension —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AI claims are intentionally separated from the current implemented MERN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37744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9751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Order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3172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User-item interactions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37744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19751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233172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Cuisine, frequency,</a:t>
            </a:r>
            <a:br/>
            <a:r>
              <a:rPr>
                <a:solidFill>
                  <a:srgbClr val="232A34"/>
                </a:solidFill>
              </a:rPr>
              <a:t>price, recency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237744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75104"/>
            <a:ext cx="21579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Recommendation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33172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Content / collaborative</a:t>
            </a:r>
            <a:br/>
            <a:r>
              <a:rPr>
                <a:solidFill>
                  <a:srgbClr val="232A34"/>
                </a:solidFill>
              </a:rPr>
              <a:t>filtering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828800"/>
            <a:ext cx="2103120" cy="114300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1975104"/>
            <a:ext cx="188366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Personalized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8" y="2331720"/>
            <a:ext cx="18836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Ranked suggestions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2404872"/>
            <a:ext cx="54864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43600" y="2404872"/>
            <a:ext cx="54864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69680" y="2404872"/>
            <a:ext cx="548640" cy="0"/>
          </a:xfrm>
          <a:prstGeom prst="line">
            <a:avLst/>
          </a:prstGeom>
          <a:ln w="19050">
            <a:solidFill>
              <a:srgbClr val="B791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3886200"/>
            <a:ext cx="3429000" cy="132588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86200"/>
            <a:ext cx="50292" cy="132588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05079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Next AI 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453128"/>
            <a:ext cx="3063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Personalized food recommendations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886200"/>
            <a:ext cx="3429000" cy="132588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886200"/>
            <a:ext cx="50292" cy="132588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405079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453128"/>
            <a:ext cx="3063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Demand forecasting and restaurant insights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886200"/>
            <a:ext cx="3429000" cy="132588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886200"/>
            <a:ext cx="50292" cy="132588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4050791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Conversational UX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453128"/>
            <a:ext cx="30632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AI assistant for menu discovery and ordering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This slide is future scope unless the corresponding model/API is implemented in the codebase.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CCD47"/>
                </a:solidFill>
                <a:latin typeface="Aptos Display"/>
              </a:defRPr>
            </a:pPr>
            <a:r>
              <a:rPr>
                <a:solidFill>
                  <a:srgbClr val="232A34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33271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What Food Genie demonstrates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347472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" cy="347472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Full-Stack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306324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A complete React + Node/Express + MongoDB application with modular architecture and state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29000" cy="347472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50292" cy="347472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8105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Real-World Integrations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212848"/>
            <a:ext cx="306324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JWT authentication, Stripe checkout, Cloudinary media handling and email functionality.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29000" cy="3474720"/>
          </a:xfrm>
          <a:prstGeom prst="roundRect">
            <a:avLst/>
          </a:prstGeom>
          <a:solidFill>
            <a:srgbClr val="EBEEF2"/>
          </a:solidFill>
          <a:ln>
            <a:solidFill>
              <a:srgbClr val="DA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50292" cy="3474720"/>
          </a:xfrm>
          <a:prstGeom prst="rect">
            <a:avLst/>
          </a:prstGeom>
          <a:solidFill>
            <a:srgbClr val="B7911C"/>
          </a:solidFill>
          <a:ln>
            <a:solidFill>
              <a:srgbClr val="B79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8105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Extensible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212848"/>
            <a:ext cx="306324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The current architecture can be extended with testing, deployment automation, analytics and AI-based recommendations.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Food Genie — a practical MERN application built around a complete ordering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EB2B9"/>
                </a:solidFill>
              </a:defRPr>
            </a:pPr>
            <a:r>
              <a:rPr>
                <a:solidFill>
                  <a:srgbClr val="5C6674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CCD47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EFF0F2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Food Genie • MERN Full-Stack Food Ordering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2B9"/>
                </a:solidFill>
                <a:latin typeface="Aptos"/>
              </a:defRPr>
            </a:pPr>
            <a:r>
              <a:rPr>
                <a:solidFill>
                  <a:srgbClr val="232A34"/>
                </a:solidFill>
              </a:rPr>
              <a:t>Devanshu Verma | CS-23411461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