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Prata" panose="020B0604020202020204" charset="0"/>
      <p:regular r:id="rId14"/>
    </p:embeddedFont>
    <p:embeddedFont>
      <p:font typeface="Raleway" pitchFamily="2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6:11:35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481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18407" y="2216778"/>
            <a:ext cx="8048789" cy="374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endParaRPr lang="en-US" sz="3900" dirty="0">
              <a:solidFill>
                <a:srgbClr val="F2E782"/>
              </a:solidFill>
              <a:latin typeface="Prata" pitchFamily="34" charset="0"/>
              <a:ea typeface="Prata" pitchFamily="34" charset="-122"/>
              <a:cs typeface="Prata" pitchFamily="34" charset="-12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900" dirty="0">
                <a:solidFill>
                  <a:schemeClr val="bg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IILM University, Greater Noida</a:t>
            </a:r>
          </a:p>
          <a:p>
            <a:pPr marL="0" indent="0" algn="ctr">
              <a:lnSpc>
                <a:spcPct val="104000"/>
              </a:lnSpc>
              <a:buNone/>
            </a:pPr>
            <a:endParaRPr lang="en-US" sz="3900" dirty="0">
              <a:solidFill>
                <a:srgbClr val="F2E782"/>
              </a:solidFill>
              <a:latin typeface="Prata" pitchFamily="34" charset="0"/>
              <a:ea typeface="Prata" pitchFamily="34" charset="-122"/>
              <a:cs typeface="Prata" pitchFamily="34" charset="-120"/>
            </a:endParaRPr>
          </a:p>
          <a:p>
            <a:pPr marL="0" indent="0">
              <a:lnSpc>
                <a:spcPct val="104000"/>
              </a:lnSpc>
              <a:buNone/>
            </a:pPr>
            <a:r>
              <a:rPr lang="en-US" sz="39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Name- Devanshu Verma</a:t>
            </a:r>
          </a:p>
          <a:p>
            <a:pPr marL="0" indent="0">
              <a:lnSpc>
                <a:spcPct val="104000"/>
              </a:lnSpc>
              <a:buNone/>
            </a:pPr>
            <a:endParaRPr lang="en-US" sz="3900" dirty="0">
              <a:solidFill>
                <a:srgbClr val="F2E782"/>
              </a:solidFill>
              <a:latin typeface="Prata" pitchFamily="34" charset="0"/>
              <a:ea typeface="Prata" pitchFamily="34" charset="-122"/>
              <a:cs typeface="Prata" pitchFamily="34" charset="-120"/>
            </a:endParaRPr>
          </a:p>
          <a:p>
            <a:pPr>
              <a:lnSpc>
                <a:spcPct val="104000"/>
              </a:lnSpc>
            </a:pPr>
            <a:r>
              <a:rPr lang="en-US" sz="39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Roll Number- CS-23411461</a:t>
            </a:r>
          </a:p>
          <a:p>
            <a:pPr>
              <a:lnSpc>
                <a:spcPct val="104000"/>
              </a:lnSpc>
            </a:pPr>
            <a:r>
              <a:rPr lang="en-US" sz="39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Sem- 7</a:t>
            </a:r>
          </a:p>
          <a:p>
            <a:pPr>
              <a:lnSpc>
                <a:spcPct val="104000"/>
              </a:lnSpc>
            </a:pPr>
            <a:endParaRPr lang="en-US" sz="3900" dirty="0">
              <a:solidFill>
                <a:srgbClr val="F2E782"/>
              </a:solidFill>
              <a:latin typeface="Prata" pitchFamily="34" charset="0"/>
              <a:ea typeface="Prata" pitchFamily="34" charset="-122"/>
              <a:cs typeface="Prata" pitchFamily="34" charset="-120"/>
            </a:endParaRPr>
          </a:p>
          <a:p>
            <a:pPr>
              <a:lnSpc>
                <a:spcPct val="104000"/>
              </a:lnSpc>
            </a:pPr>
            <a:r>
              <a:rPr lang="en-US" sz="39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Batch- 2023-2027</a:t>
            </a:r>
          </a:p>
          <a:p>
            <a:pPr marL="0" indent="0" algn="ctr">
              <a:lnSpc>
                <a:spcPct val="104000"/>
              </a:lnSpc>
              <a:buNone/>
            </a:pPr>
            <a:endParaRPr lang="en-US" sz="3700" dirty="0">
              <a:solidFill>
                <a:srgbClr val="F2E782"/>
              </a:solidFill>
              <a:latin typeface="Prata" pitchFamily="34" charset="0"/>
              <a:ea typeface="Prata" pitchFamily="34" charset="-122"/>
              <a:cs typeface="Prata" pitchFamily="34" charset="-120"/>
            </a:endParaRPr>
          </a:p>
          <a:p>
            <a:pPr marL="0" indent="0" algn="ctr">
              <a:lnSpc>
                <a:spcPct val="104000"/>
              </a:lnSpc>
              <a:buNone/>
            </a:pPr>
            <a:endParaRPr lang="en-US" sz="3700" dirty="0">
              <a:solidFill>
                <a:srgbClr val="F2E782"/>
              </a:solidFill>
              <a:latin typeface="Prata" pitchFamily="34" charset="0"/>
              <a:ea typeface="Prata" pitchFamily="34" charset="-122"/>
              <a:cs typeface="Prata" pitchFamily="34" charset="-12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Title- Food Genie: AI-Powered Food Ordering Platform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442217" y="596593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Built for scale. Powered by intelligence. Delivered by MERN.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C4D355-6994-1BC6-490A-BCD603FE2E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3984"/>
          <a:stretch>
            <a:fillRect/>
          </a:stretch>
        </p:blipFill>
        <p:spPr>
          <a:xfrm>
            <a:off x="4701458" y="419022"/>
            <a:ext cx="1814628" cy="17977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13DAE79-3B14-2335-E0B5-1271EF2028EB}"/>
                  </a:ext>
                </a:extLst>
              </p14:cNvPr>
              <p14:cNvContentPartPr/>
              <p14:nvPr/>
            </p14:nvContentPartPr>
            <p14:xfrm>
              <a:off x="1652582" y="1669376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13DAE79-3B14-2335-E0B5-1271EF2028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3582" y="166037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0059" y="2304356"/>
            <a:ext cx="4571886" cy="33162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012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Built on MERN Stack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1404243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5" name="Text 2"/>
          <p:cNvSpPr/>
          <p:nvPr/>
        </p:nvSpPr>
        <p:spPr>
          <a:xfrm>
            <a:off x="5422367" y="1593255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MongoDB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2367" y="2001937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Flexible NoSQL data layer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233360" y="2682379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5422367" y="2871391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Express.js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422367" y="3280073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Lightweight backend routing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3960515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5422367" y="4149527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React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2367" y="4558209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UI components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5238651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14" name="Text 11"/>
          <p:cNvSpPr/>
          <p:nvPr/>
        </p:nvSpPr>
        <p:spPr>
          <a:xfrm>
            <a:off x="5422367" y="5427663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Node.js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422367" y="5836345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High-performance runtime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Intelligent Order Processing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831351" y="1902222"/>
            <a:ext cx="425241" cy="42525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5" name="Text 2"/>
          <p:cNvSpPr/>
          <p:nvPr/>
        </p:nvSpPr>
        <p:spPr>
          <a:xfrm>
            <a:off x="902241" y="193764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45599" y="1967111"/>
            <a:ext cx="28899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Learns user preferences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831351" y="2705497"/>
            <a:ext cx="425241" cy="42525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902241" y="274091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45599" y="2770386"/>
            <a:ext cx="28899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Predicts next orders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1351" y="3508772"/>
            <a:ext cx="425241" cy="425252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902241" y="354419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45599" y="3573661"/>
            <a:ext cx="288997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Optimizes delivery routes in real-time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87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Seamless User Experience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29567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Responsive UI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70435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React-driven components that adapt to any device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661475" y="312737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 Order Tracking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61475" y="3536057"/>
            <a:ext cx="413702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delivery status with live map updates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661475" y="229630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Intuitive Navigation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2551410"/>
            <a:ext cx="44138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Frictionless flows from browse to checkout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450" dirty="0">
              <a:solidFill>
                <a:srgbClr val="CFCBBF"/>
              </a:solidFill>
              <a:latin typeface="Raleway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7396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Scalable Backend Infrastructure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705" y="1619548"/>
            <a:ext cx="5925791" cy="44541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75422" y="3366862"/>
            <a:ext cx="1080688" cy="1235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Three-layer Backend Architecture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192061" y="4639366"/>
            <a:ext cx="1607716" cy="741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latin typeface="Prata" pitchFamily="34" charset="0"/>
                <a:ea typeface="Prata" pitchFamily="34" charset="-122"/>
                <a:cs typeface="Prata" pitchFamily="34" charset="-120"/>
              </a:rPr>
              <a:t>Node.js + Express Load Balancer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192061" y="5451001"/>
            <a:ext cx="1607716" cy="383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2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Non-blocking routing and distribution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422831" y="4762786"/>
            <a:ext cx="1607716" cy="494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latin typeface="Prata" pitchFamily="34" charset="0"/>
                <a:ea typeface="Prata" pitchFamily="34" charset="-122"/>
                <a:cs typeface="Prata" pitchFamily="34" charset="-120"/>
              </a:rPr>
              <a:t>Horizontal Scaling Nodes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22831" y="5327306"/>
            <a:ext cx="1607716" cy="383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2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Multiple server instances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85481" y="1841341"/>
            <a:ext cx="1651646" cy="494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latin typeface="Prata" pitchFamily="34" charset="0"/>
                <a:ea typeface="Prata" pitchFamily="34" charset="-122"/>
                <a:cs typeface="Prata" pitchFamily="34" charset="-120"/>
              </a:rPr>
              <a:t>Incoming Requests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285481" y="2405861"/>
            <a:ext cx="1651646" cy="383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12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Client traffic and API calls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3400" y="1587103"/>
            <a:ext cx="3523070" cy="13847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85848" y="1783358"/>
            <a:ext cx="305437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Non-blocking I/O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8285848" y="2226370"/>
            <a:ext cx="305437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Node.js handles thousands of concurrent connections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3400" y="3137991"/>
            <a:ext cx="3523070" cy="13847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5848" y="3334246"/>
            <a:ext cx="305437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Load Balancing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285848" y="3777258"/>
            <a:ext cx="305437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Traffic distributed across multiple server instances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3400" y="4688880"/>
            <a:ext cx="3523070" cy="13847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85848" y="4885134"/>
            <a:ext cx="305437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Horizontal Scaling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8285848" y="5328146"/>
            <a:ext cx="305437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capacity on demand without downtime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771787"/>
            <a:ext cx="4832059" cy="5041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4997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MongoDB: Flexible Data Layer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814737"/>
            <a:ext cx="6296860" cy="2693194"/>
          </a:xfrm>
          <a:prstGeom prst="roundRect">
            <a:avLst>
              <a:gd name="adj" fmla="val 1053"/>
            </a:avLst>
          </a:prstGeom>
          <a:solidFill>
            <a:srgbClr val="3A3B3C"/>
          </a:solidFill>
          <a:ln/>
        </p:spPr>
      </p:sp>
      <p:sp>
        <p:nvSpPr>
          <p:cNvPr id="5" name="Shape 2"/>
          <p:cNvSpPr/>
          <p:nvPr/>
        </p:nvSpPr>
        <p:spPr>
          <a:xfrm>
            <a:off x="5233360" y="2814737"/>
            <a:ext cx="6296860" cy="673298"/>
          </a:xfrm>
          <a:custGeom>
            <a:avLst/>
            <a:gdLst/>
            <a:ahLst/>
            <a:cxnLst/>
            <a:rect l="l" t="t" r="r" b="b"/>
            <a:pathLst>
              <a:path w="6296860" h="673298">
                <a:moveTo>
                  <a:pt x="23627" y="0"/>
                </a:moveTo>
                <a:lnTo>
                  <a:pt x="6273232" y="0"/>
                </a:lnTo>
                <a:arcTo wR="23627" hR="23628" stAng="16200000" swAng="5400000"/>
                <a:lnTo>
                  <a:pt x="6296860" y="673298"/>
                </a:lnTo>
                <a:lnTo>
                  <a:pt x="0" y="673298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3A3B3C"/>
          </a:solidFill>
          <a:ln/>
        </p:spPr>
      </p:sp>
      <p:sp>
        <p:nvSpPr>
          <p:cNvPr id="6" name="Text 3"/>
          <p:cNvSpPr/>
          <p:nvPr/>
        </p:nvSpPr>
        <p:spPr>
          <a:xfrm>
            <a:off x="5422367" y="3003748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 Profiles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3360" y="3488035"/>
            <a:ext cx="6296860" cy="673298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8" name="Shape 5"/>
          <p:cNvSpPr/>
          <p:nvPr/>
        </p:nvSpPr>
        <p:spPr>
          <a:xfrm>
            <a:off x="5233360" y="3488035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535455"/>
          </a:solidFill>
          <a:ln/>
        </p:spPr>
      </p:sp>
      <p:sp>
        <p:nvSpPr>
          <p:cNvPr id="9" name="Text 6"/>
          <p:cNvSpPr/>
          <p:nvPr/>
        </p:nvSpPr>
        <p:spPr>
          <a:xfrm>
            <a:off x="5422367" y="3677047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Restaurant Data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5233360" y="4161334"/>
            <a:ext cx="6296860" cy="673298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11" name="Shape 8"/>
          <p:cNvSpPr/>
          <p:nvPr/>
        </p:nvSpPr>
        <p:spPr>
          <a:xfrm>
            <a:off x="5233360" y="4161334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535455"/>
          </a:solidFill>
          <a:ln/>
        </p:spPr>
      </p:sp>
      <p:sp>
        <p:nvSpPr>
          <p:cNvPr id="12" name="Text 9"/>
          <p:cNvSpPr/>
          <p:nvPr/>
        </p:nvSpPr>
        <p:spPr>
          <a:xfrm>
            <a:off x="5422367" y="4350345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Order Records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5233360" y="4834632"/>
            <a:ext cx="6296860" cy="673298"/>
          </a:xfrm>
          <a:custGeom>
            <a:avLst/>
            <a:gdLst/>
            <a:ahLst/>
            <a:cxnLst/>
            <a:rect l="l" t="t" r="r" b="b"/>
            <a:pathLst>
              <a:path w="6296860" h="673298">
                <a:moveTo>
                  <a:pt x="0" y="0"/>
                </a:moveTo>
                <a:lnTo>
                  <a:pt x="6296860" y="0"/>
                </a:lnTo>
                <a:lnTo>
                  <a:pt x="6296860" y="649671"/>
                </a:lnTo>
                <a:arcTo wR="23627" hR="23628" stAng="0" swAng="5400000"/>
                <a:lnTo>
                  <a:pt x="23627" y="673298"/>
                </a:lnTo>
                <a:arcTo wR="23627" hR="23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3A3B3C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3360" y="4834632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535455"/>
          </a:solidFill>
          <a:ln/>
        </p:spPr>
      </p:sp>
      <p:sp>
        <p:nvSpPr>
          <p:cNvPr id="15" name="Text 12"/>
          <p:cNvSpPr/>
          <p:nvPr/>
        </p:nvSpPr>
        <p:spPr>
          <a:xfrm>
            <a:off x="5422367" y="5023644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 Training Sets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1187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Real-Time Performance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75000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&lt;1s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403492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Response Time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443611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Even at peak load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3175000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Redis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403492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Caching Layer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4443611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Hot data served instantly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3175000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100%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403492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Indexed Queries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4443611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Optimized MongoDB patterns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693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Enterprise-Grade Security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872" y="1316994"/>
            <a:ext cx="450343" cy="4503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3686" y="1464914"/>
            <a:ext cx="285336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End-to-End Encryption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233686" y="1691480"/>
            <a:ext cx="285336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All data in transit and at rest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016" y="2144687"/>
            <a:ext cx="450343" cy="4503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69884" y="2285404"/>
            <a:ext cx="285336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JWT Authentication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269884" y="2541687"/>
            <a:ext cx="285336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Stateless, secure session management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015" y="3203823"/>
            <a:ext cx="450343" cy="4503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69884" y="3288258"/>
            <a:ext cx="285336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RBAC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233685" y="3569742"/>
            <a:ext cx="285336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Granular role-based access control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871" y="4420141"/>
            <a:ext cx="450343" cy="45035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3686" y="4504576"/>
            <a:ext cx="285336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PCI-DSS Compliant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1233684" y="4701432"/>
            <a:ext cx="285336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Certified payment data handling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50797" y="61039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AI-Driven Personalization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9" y="1487292"/>
            <a:ext cx="945035" cy="11340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651951" y="1676304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Analyze Patterns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2651951" y="2084986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 models study ordering behavior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909" y="2621362"/>
            <a:ext cx="945035" cy="11340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651951" y="2810374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Recommend Dishes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2651951" y="3219056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Hyper-relevant suggestions per user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909" y="3755433"/>
            <a:ext cx="945035" cy="11340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51951" y="3944444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Predict Demand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2651951" y="4353126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 inventory and prep times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0797" y="4886722"/>
            <a:ext cx="945035" cy="113407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651951" y="5078515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Retain Customers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2651951" y="5487197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Personalization that builds loyalty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905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Reliability &amp; Uptime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2276616" y="2529979"/>
            <a:ext cx="2106857" cy="428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99.9%</a:t>
            </a:r>
            <a:endParaRPr lang="en-US" sz="3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443" y="1459409"/>
            <a:ext cx="2569404" cy="2569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226818"/>
            <a:ext cx="533733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Availability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61475" y="4587478"/>
            <a:ext cx="5337339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 replication + failover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07923" y="2529979"/>
            <a:ext cx="2106857" cy="428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100%</a:t>
            </a:r>
            <a:endParaRPr lang="en-US" sz="3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750" y="1459409"/>
            <a:ext cx="2569404" cy="25694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92782" y="4226818"/>
            <a:ext cx="53374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Automated Monitoring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192782" y="4587478"/>
            <a:ext cx="533743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error detection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023346"/>
            <a:ext cx="3519399" cy="126374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7970" y="5213648"/>
            <a:ext cx="306260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Automated Monitoring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927970" y="5574308"/>
            <a:ext cx="306260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Proactive alerts before failures occur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6049" y="5023346"/>
            <a:ext cx="3519499" cy="126374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02543" y="5213648"/>
            <a:ext cx="306270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Database Replication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4602543" y="5574308"/>
            <a:ext cx="306270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Multi-node replica sets in MongoDB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0721" y="5023346"/>
            <a:ext cx="3519499" cy="126374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77216" y="5213648"/>
            <a:ext cx="306270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Failover Mechanisms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8277216" y="5574308"/>
            <a:ext cx="3062707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Automatic recovery with zero manual intervention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165070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Business Impact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524820"/>
            <a:ext cx="3053877" cy="1397893"/>
          </a:xfrm>
          <a:prstGeom prst="roundRect">
            <a:avLst>
              <a:gd name="adj" fmla="val 2028"/>
            </a:avLst>
          </a:prstGeom>
          <a:solidFill>
            <a:srgbClr val="3A3B3C"/>
          </a:solidFill>
          <a:ln/>
        </p:spPr>
      </p:sp>
      <p:sp>
        <p:nvSpPr>
          <p:cNvPr id="5" name="Text 2"/>
          <p:cNvSpPr/>
          <p:nvPr/>
        </p:nvSpPr>
        <p:spPr>
          <a:xfrm>
            <a:off x="850482" y="2713831"/>
            <a:ext cx="2675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⬇</a:t>
            </a: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Operational Costs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3128863"/>
            <a:ext cx="2675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Automation reduces manual overhead across fulfillment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524820"/>
            <a:ext cx="3053976" cy="1397893"/>
          </a:xfrm>
          <a:prstGeom prst="roundRect">
            <a:avLst>
              <a:gd name="adj" fmla="val 2028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4093366" y="2713831"/>
            <a:ext cx="267596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⬆</a:t>
            </a: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Customer LTV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3366" y="3128863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Personalization drives repeat orders and retention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111724"/>
            <a:ext cx="6296860" cy="1095474"/>
          </a:xfrm>
          <a:prstGeom prst="roundRect">
            <a:avLst>
              <a:gd name="adj" fmla="val 2588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850482" y="4300736"/>
            <a:ext cx="59188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🏆</a:t>
            </a: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Competitive Edge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4715768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innovation sets Food Genie apart in the market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341</Words>
  <Application>Microsoft Office PowerPoint</Application>
  <PresentationFormat>Widescreen</PresentationFormat>
  <Paragraphs>114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Prata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sonu suman</cp:lastModifiedBy>
  <cp:revision>2</cp:revision>
  <dcterms:created xsi:type="dcterms:W3CDTF">2026-08-30T15:47:21Z</dcterms:created>
  <dcterms:modified xsi:type="dcterms:W3CDTF">2026-08-30T16:20:16Z</dcterms:modified>
</cp:coreProperties>
</file>